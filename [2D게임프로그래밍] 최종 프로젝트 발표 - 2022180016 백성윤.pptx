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5"/>
  </p:notesMasterIdLst>
  <p:sldIdLst>
    <p:sldId id="256" r:id="rId2"/>
    <p:sldId id="262" r:id="rId3"/>
    <p:sldId id="263" r:id="rId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기본 구역" id="{9080A7BA-14AE-413A-A4AC-C85AA4863853}">
          <p14:sldIdLst>
            <p14:sldId id="256"/>
          </p14:sldIdLst>
        </p14:section>
        <p14:section name="제목 없는 구역" id="{361E2545-DCE7-4B0A-B58E-4FC865047993}">
          <p14:sldIdLst>
            <p14:sldId id="262"/>
            <p14:sldId id="26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9D7B26C5-4107-4FEC-AEDC-1716B250A1EF}" styleName="밝은 스타일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16DA210-FB5B-4158-B5E0-FEB733F419BA}" styleName="밝은 스타일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7E9639D4-E3E2-4D34-9284-5A2195B3D0D7}" styleName="밝은 스타일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793D81CF-94F2-401A-BA57-92F5A7B2D0C5}" styleName="보통 스타일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BC89EF96-8CEA-46FF-86C4-4CE0E7609802}" styleName="밝은 스타일 3 - 강조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5DA37D80-6434-44D0-A028-1B22A696006F}" styleName="밝은 스타일 3 - 강조 2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D7AC3CCA-C797-4891-BE02-D94E43425B78}" styleName="보통 스타일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6" autoAdjust="0"/>
    <p:restoredTop sz="94660"/>
  </p:normalViewPr>
  <p:slideViewPr>
    <p:cSldViewPr snapToGrid="0">
      <p:cViewPr varScale="1">
        <p:scale>
          <a:sx n="104" d="100"/>
          <a:sy n="104" d="100"/>
        </p:scale>
        <p:origin x="316" y="1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8BA545B-6BB1-496F-BC0F-33D12A7E7E1A}" type="datetimeFigureOut">
              <a:rPr lang="ko-KR" altLang="en-US" smtClean="0"/>
              <a:t>2025-12-09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05723EF-3086-413C-B456-7BC20C76B84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6225851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05723EF-3086-413C-B456-7BC20C76B840}" type="slidenum">
              <a:rPr lang="ko-KR" altLang="en-US" smtClean="0"/>
              <a:t>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7646942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95269" y="1122363"/>
            <a:ext cx="9001462" cy="2387600"/>
          </a:xfrm>
        </p:spPr>
        <p:txBody>
          <a:bodyPr anchor="b">
            <a:normAutofit/>
          </a:bodyPr>
          <a:lstStyle>
            <a:lvl1pPr algn="ctr">
              <a:defRPr sz="48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95269" y="3602038"/>
            <a:ext cx="9001462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843303-3A92-4C04-A5B9-7739E7E0EA47}" type="datetimeFigureOut">
              <a:rPr lang="ko-KR" altLang="en-US" smtClean="0"/>
              <a:t>2025-12-09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D051F0-5DC5-47D9-B1F5-57DA43EA795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0398650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843303-3A92-4C04-A5B9-7739E7E0EA47}" type="datetimeFigureOut">
              <a:rPr lang="ko-KR" altLang="en-US" smtClean="0"/>
              <a:t>2025-12-09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D051F0-5DC5-47D9-B1F5-57DA43EA795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8659710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29244" y="657226"/>
            <a:ext cx="9733512" cy="2852737"/>
          </a:xfrm>
        </p:spPr>
        <p:txBody>
          <a:bodyPr anchor="b">
            <a:normAutofit/>
          </a:bodyPr>
          <a:lstStyle>
            <a:lvl1pPr>
              <a:defRPr sz="34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29244" y="3602038"/>
            <a:ext cx="9733512" cy="1500187"/>
          </a:xfrm>
        </p:spPr>
        <p:txBody>
          <a:bodyPr/>
          <a:lstStyle>
            <a:lvl1pPr marL="0" indent="0" algn="ctr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843303-3A92-4C04-A5B9-7739E7E0EA47}" type="datetimeFigureOut">
              <a:rPr lang="ko-KR" altLang="en-US" smtClean="0"/>
              <a:t>2025-12-09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D051F0-5DC5-47D9-B1F5-57DA43EA795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6438643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1" cy="1326321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13795" y="2088319"/>
            <a:ext cx="5106004" cy="3702881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3403" y="2088319"/>
            <a:ext cx="5094154" cy="3702881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843303-3A92-4C04-A5B9-7739E7E0EA47}" type="datetimeFigureOut">
              <a:rPr lang="ko-KR" altLang="en-US" smtClean="0"/>
              <a:t>2025-12-09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D051F0-5DC5-47D9-B1F5-57DA43EA795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4679607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1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804" y="2088320"/>
            <a:ext cx="4879199" cy="823912"/>
          </a:xfrm>
        </p:spPr>
        <p:txBody>
          <a:bodyPr anchor="b"/>
          <a:lstStyle>
            <a:lvl1pPr marL="0" indent="0">
              <a:lnSpc>
                <a:spcPct val="100000"/>
              </a:lnSpc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913795" y="2912232"/>
            <a:ext cx="5107208" cy="287896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2003" y="2088320"/>
            <a:ext cx="4865554" cy="823912"/>
          </a:xfrm>
        </p:spPr>
        <p:txBody>
          <a:bodyPr anchor="b"/>
          <a:lstStyle>
            <a:lvl1pPr marL="0" indent="0">
              <a:lnSpc>
                <a:spcPct val="100000"/>
              </a:lnSpc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912232"/>
            <a:ext cx="5095357" cy="287896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843303-3A92-4C04-A5B9-7739E7E0EA47}" type="datetimeFigureOut">
              <a:rPr lang="ko-KR" altLang="en-US" smtClean="0"/>
              <a:t>2025-12-09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D051F0-5DC5-47D9-B1F5-57DA43EA795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9467950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843303-3A92-4C04-A5B9-7739E7E0EA47}" type="datetimeFigureOut">
              <a:rPr lang="ko-KR" altLang="en-US" smtClean="0"/>
              <a:t>2025-12-09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D051F0-5DC5-47D9-B1F5-57DA43EA795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9839572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843303-3A92-4C04-A5B9-7739E7E0EA47}" type="datetimeFigureOut">
              <a:rPr lang="ko-KR" altLang="en-US" smtClean="0"/>
              <a:t>2025-12-09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D051F0-5DC5-47D9-B1F5-57DA43EA795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3139712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7228" y="609600"/>
            <a:ext cx="3932237" cy="2362200"/>
          </a:xfrm>
        </p:spPr>
        <p:txBody>
          <a:bodyPr anchor="b">
            <a:normAutofit/>
          </a:bodyPr>
          <a:lstStyle>
            <a:lvl1pPr>
              <a:defRPr sz="28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78064" y="609600"/>
            <a:ext cx="6189492" cy="5181600"/>
          </a:xfrm>
        </p:spPr>
        <p:txBody>
          <a:bodyPr anchor="ctr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7228" y="2971800"/>
            <a:ext cx="3932237" cy="2819399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843303-3A92-4C04-A5B9-7739E7E0EA47}" type="datetimeFigureOut">
              <a:rPr lang="ko-KR" altLang="en-US" smtClean="0"/>
              <a:t>2025-12-09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D051F0-5DC5-47D9-B1F5-57DA43EA795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9717062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7227" y="609600"/>
            <a:ext cx="5929773" cy="2362200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424804" y="758881"/>
            <a:ext cx="3255356" cy="4883038"/>
          </a:xfrm>
          <a:noFill/>
          <a:ln w="1905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  <p:txBody>
          <a:bodyPr anchor="t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2971800"/>
            <a:ext cx="5934950" cy="2819400"/>
          </a:xfrm>
        </p:spPr>
        <p:txBody>
          <a:bodyPr>
            <a:normAutofit/>
          </a:bodyPr>
          <a:lstStyle>
            <a:lvl1pPr marL="0" indent="0" algn="ctr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843303-3A92-4C04-A5B9-7739E7E0EA47}" type="datetimeFigureOut">
              <a:rPr lang="ko-KR" altLang="en-US" smtClean="0"/>
              <a:t>2025-12-09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D051F0-5DC5-47D9-B1F5-57DA43EA795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7674345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캡션 있는 파노라마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806" y="4289372"/>
            <a:ext cx="10367564" cy="819355"/>
          </a:xfrm>
        </p:spPr>
        <p:txBody>
          <a:bodyPr anchor="b">
            <a:normAutofit/>
          </a:bodyPr>
          <a:lstStyle>
            <a:lvl1pPr>
              <a:defRPr sz="28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913806" y="621321"/>
            <a:ext cx="10367564" cy="3379735"/>
          </a:xfrm>
          <a:noFill/>
          <a:ln w="1905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  <p:txBody>
          <a:bodyPr anchor="t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5" y="5108728"/>
            <a:ext cx="10365998" cy="682472"/>
          </a:xfrm>
        </p:spPr>
        <p:txBody>
          <a:bodyPr>
            <a:normAutofit/>
          </a:bodyPr>
          <a:lstStyle>
            <a:lvl1pPr marL="0" indent="0" algn="ctr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843303-3A92-4C04-A5B9-7739E7E0EA47}" type="datetimeFigureOut">
              <a:rPr lang="ko-KR" altLang="en-US" smtClean="0"/>
              <a:t>2025-12-09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D051F0-5DC5-47D9-B1F5-57DA43EA795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788912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제목 및 캡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3424859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5" y="4204820"/>
            <a:ext cx="10353761" cy="1592186"/>
          </a:xfrm>
        </p:spPr>
        <p:txBody>
          <a:bodyPr anchor="ctr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843303-3A92-4C04-A5B9-7739E7E0EA47}" type="datetimeFigureOut">
              <a:rPr lang="ko-KR" altLang="en-US" smtClean="0"/>
              <a:t>2025-12-09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D051F0-5DC5-47D9-B1F5-57DA43EA795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3689265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캡션 있는 인용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600"/>
            <a:ext cx="9302752" cy="2992904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610032"/>
            <a:ext cx="8752299" cy="426812"/>
          </a:xfrm>
        </p:spPr>
        <p:txBody>
          <a:bodyPr anchor="t">
            <a:normAutofit/>
          </a:bodyPr>
          <a:lstStyle>
            <a:lvl1pPr marL="0" indent="0" algn="r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4204821"/>
            <a:ext cx="10353762" cy="1586380"/>
          </a:xfrm>
        </p:spPr>
        <p:txBody>
          <a:bodyPr anchor="ctr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843303-3A92-4C04-A5B9-7739E7E0EA47}" type="datetimeFigureOut">
              <a:rPr lang="ko-KR" altLang="en-US" smtClean="0"/>
              <a:t>2025-12-09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D051F0-5DC5-47D9-B1F5-57DA43EA795F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11" name="TextBox 10"/>
          <p:cNvSpPr txBox="1"/>
          <p:nvPr/>
        </p:nvSpPr>
        <p:spPr>
          <a:xfrm>
            <a:off x="836612" y="735241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57956" y="2972093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13336895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명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806" y="2126942"/>
            <a:ext cx="10355327" cy="2511835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4650556"/>
            <a:ext cx="10353763" cy="1140644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843303-3A92-4C04-A5B9-7739E7E0EA47}" type="datetimeFigureOut">
              <a:rPr lang="ko-KR" altLang="en-US" smtClean="0"/>
              <a:t>2025-12-09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D051F0-5DC5-47D9-B1F5-57DA43EA795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1628517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913794" y="609600"/>
            <a:ext cx="10353762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913794" y="2088319"/>
            <a:ext cx="3298956" cy="823305"/>
          </a:xfrm>
        </p:spPr>
        <p:txBody>
          <a:bodyPr anchor="b">
            <a:noAutofit/>
          </a:bodyPr>
          <a:lstStyle>
            <a:lvl1pPr marL="0" indent="0" algn="ctr">
              <a:lnSpc>
                <a:spcPct val="100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913794" y="2911624"/>
            <a:ext cx="3298956" cy="2879576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4878" y="2088320"/>
            <a:ext cx="3298558" cy="823304"/>
          </a:xfrm>
        </p:spPr>
        <p:txBody>
          <a:bodyPr anchor="b">
            <a:noAutofit/>
          </a:bodyPr>
          <a:lstStyle>
            <a:lvl1pPr marL="0" indent="0" algn="ctr">
              <a:lnSpc>
                <a:spcPct val="100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444878" y="2911624"/>
            <a:ext cx="3299821" cy="2879576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73298" y="2088320"/>
            <a:ext cx="3291211" cy="823304"/>
          </a:xfrm>
        </p:spPr>
        <p:txBody>
          <a:bodyPr anchor="b">
            <a:noAutofit/>
          </a:bodyPr>
          <a:lstStyle>
            <a:lvl1pPr marL="0" indent="0" algn="ctr">
              <a:lnSpc>
                <a:spcPct val="100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976346" y="2911624"/>
            <a:ext cx="3291211" cy="2879576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843303-3A92-4C04-A5B9-7739E7E0EA47}" type="datetimeFigureOut">
              <a:rPr lang="ko-KR" altLang="en-US" smtClean="0"/>
              <a:t>2025-12-09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D051F0-5DC5-47D9-B1F5-57DA43EA795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2853033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그림 열 3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913795" y="4195899"/>
            <a:ext cx="3298955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100000"/>
              </a:lnSpc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092020" y="2298987"/>
            <a:ext cx="2940050" cy="1524000"/>
          </a:xfrm>
          <a:prstGeom prst="roundRect">
            <a:avLst>
              <a:gd name="adj" fmla="val 0"/>
            </a:avLst>
          </a:prstGeom>
          <a:noFill/>
          <a:ln w="14605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913795" y="4772161"/>
            <a:ext cx="3298955" cy="1019038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2701" y="4195899"/>
            <a:ext cx="3298983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100000"/>
              </a:lnSpc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568996" y="2298987"/>
            <a:ext cx="2930525" cy="1524000"/>
          </a:xfrm>
          <a:prstGeom prst="roundRect">
            <a:avLst>
              <a:gd name="adj" fmla="val 0"/>
            </a:avLst>
          </a:prstGeom>
          <a:noFill/>
          <a:ln w="14605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41348" y="4772160"/>
            <a:ext cx="3300336" cy="1019038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73423" y="4195899"/>
            <a:ext cx="3289900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100000"/>
              </a:lnSpc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8152803" y="2298987"/>
            <a:ext cx="2932113" cy="1524000"/>
          </a:xfrm>
          <a:prstGeom prst="roundRect">
            <a:avLst>
              <a:gd name="adj" fmla="val 0"/>
            </a:avLst>
          </a:prstGeom>
          <a:noFill/>
          <a:ln w="14605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973298" y="4772161"/>
            <a:ext cx="3294258" cy="1019037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843303-3A92-4C04-A5B9-7739E7E0EA47}" type="datetimeFigureOut">
              <a:rPr lang="ko-KR" altLang="en-US" smtClean="0"/>
              <a:t>2025-12-09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D051F0-5DC5-47D9-B1F5-57DA43EA795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9947823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843303-3A92-4C04-A5B9-7739E7E0EA47}" type="datetimeFigureOut">
              <a:rPr lang="ko-KR" altLang="en-US" smtClean="0"/>
              <a:t>2025-12-09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D051F0-5DC5-47D9-B1F5-57DA43EA795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7869173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609599"/>
            <a:ext cx="2542657" cy="5181601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913794" y="609599"/>
            <a:ext cx="7658705" cy="5181601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843303-3A92-4C04-A5B9-7739E7E0EA47}" type="datetimeFigureOut">
              <a:rPr lang="ko-KR" altLang="en-US" smtClean="0"/>
              <a:t>2025-12-09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D051F0-5DC5-47D9-B1F5-57DA43EA795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8421877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1" cy="132632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3795" y="2096064"/>
            <a:ext cx="10353762" cy="369513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78736" y="588327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8843303-3A92-4C04-A5B9-7739E7E0EA47}" type="datetimeFigureOut">
              <a:rPr lang="ko-KR" altLang="en-US" smtClean="0"/>
              <a:t>2025-12-09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913794" y="5883275"/>
            <a:ext cx="667286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14011" y="5883275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1D051F0-5DC5-47D9-B1F5-57DA43EA795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22929326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</p:sldLayoutIdLst>
  <p:txStyles>
    <p:titleStyle>
      <a:lvl1pPr algn="ctr" defTabSz="914400" rtl="0" eaLnBrk="1" latinLnBrk="1" hangingPunct="1">
        <a:lnSpc>
          <a:spcPct val="90000"/>
        </a:lnSpc>
        <a:spcBef>
          <a:spcPct val="0"/>
        </a:spcBef>
        <a:buNone/>
        <a:defRPr sz="3400" b="1" i="0" kern="1200" cap="all">
          <a:solidFill>
            <a:schemeClr val="tx1"/>
          </a:solidFill>
          <a:effectLst>
            <a:outerShdw blurRad="50800" dist="63500" dir="2700000" algn="tl" rotWithShape="0">
              <a:srgbClr val="000000">
                <a:alpha val="48000"/>
              </a:srgbClr>
            </a:outerShdw>
          </a:effectLst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120000"/>
        </a:lnSpc>
        <a:spcBef>
          <a:spcPts val="1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2">
                <a:shade val="18000"/>
                <a:satMod val="160000"/>
                <a:lumMod val="28000"/>
              </a:schemeClr>
              <a:schemeClr val="bg2">
                <a:tint val="95000"/>
                <a:satMod val="160000"/>
                <a:lumMod val="116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 descr="스크린샷, PC 게임, 비디오 게임 소프트웨어, 그래픽 디자인이(가) 표시된 사진">
            <a:extLst>
              <a:ext uri="{FF2B5EF4-FFF2-40B4-BE49-F238E27FC236}">
                <a16:creationId xmlns:a16="http://schemas.microsoft.com/office/drawing/2014/main" id="{3262208F-CB8B-8C2B-576E-7A2F199450D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0"/>
          <a:stretch>
            <a:fillRect/>
          </a:stretch>
        </p:blipFill>
        <p:spPr>
          <a:xfrm>
            <a:off x="20" y="2030"/>
            <a:ext cx="12191980" cy="6855970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ACD7D388-050C-3766-65BA-ACF19547198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ko-KR" altLang="en-US" dirty="0" err="1"/>
              <a:t>바운스</a:t>
            </a:r>
            <a:r>
              <a:rPr lang="ko-KR" altLang="en-US" dirty="0"/>
              <a:t> 어택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2384BA9F-B20F-4656-3E63-402B8B7DF33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lang="en-US" altLang="ko-KR" dirty="0"/>
              <a:t>2022180016 </a:t>
            </a:r>
            <a:r>
              <a:rPr lang="ko-KR" altLang="en-US" dirty="0"/>
              <a:t>백성윤</a:t>
            </a:r>
          </a:p>
        </p:txBody>
      </p:sp>
    </p:spTree>
    <p:extLst>
      <p:ext uri="{BB962C8B-B14F-4D97-AF65-F5344CB8AC3E}">
        <p14:creationId xmlns:p14="http://schemas.microsoft.com/office/powerpoint/2010/main" val="11832461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2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8DE0769-7D21-D89C-FD0B-28A9E5F732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07" y="247522"/>
            <a:ext cx="10353761" cy="1326321"/>
          </a:xfrm>
        </p:spPr>
        <p:txBody>
          <a:bodyPr/>
          <a:lstStyle/>
          <a:p>
            <a:r>
              <a:rPr lang="ko-KR" altLang="en-US" dirty="0"/>
              <a:t>개발 진척도</a:t>
            </a:r>
          </a:p>
        </p:txBody>
      </p:sp>
      <p:graphicFrame>
        <p:nvGraphicFramePr>
          <p:cNvPr id="18" name="내용 개체 틀 17">
            <a:extLst>
              <a:ext uri="{FF2B5EF4-FFF2-40B4-BE49-F238E27FC236}">
                <a16:creationId xmlns:a16="http://schemas.microsoft.com/office/drawing/2014/main" id="{F2D99EFB-B8BA-C2D6-45F5-419A8136AE7D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947820459"/>
              </p:ext>
            </p:extLst>
          </p:nvPr>
        </p:nvGraphicFramePr>
        <p:xfrm>
          <a:off x="913707" y="1270186"/>
          <a:ext cx="10353673" cy="5102744"/>
        </p:xfrm>
        <a:graphic>
          <a:graphicData uri="http://schemas.openxmlformats.org/drawingml/2006/table">
            <a:tbl>
              <a:tblPr firstRow="1" bandRow="1">
                <a:tableStyleId>{616DA210-FB5B-4158-B5E0-FEB733F419BA}</a:tableStyleId>
              </a:tblPr>
              <a:tblGrid>
                <a:gridCol w="1289357">
                  <a:extLst>
                    <a:ext uri="{9D8B030D-6E8A-4147-A177-3AD203B41FA5}">
                      <a16:colId xmlns:a16="http://schemas.microsoft.com/office/drawing/2014/main" val="3444368703"/>
                    </a:ext>
                  </a:extLst>
                </a:gridCol>
                <a:gridCol w="3032403">
                  <a:extLst>
                    <a:ext uri="{9D8B030D-6E8A-4147-A177-3AD203B41FA5}">
                      <a16:colId xmlns:a16="http://schemas.microsoft.com/office/drawing/2014/main" val="1258381469"/>
                    </a:ext>
                  </a:extLst>
                </a:gridCol>
                <a:gridCol w="5148870">
                  <a:extLst>
                    <a:ext uri="{9D8B030D-6E8A-4147-A177-3AD203B41FA5}">
                      <a16:colId xmlns:a16="http://schemas.microsoft.com/office/drawing/2014/main" val="2523589335"/>
                    </a:ext>
                  </a:extLst>
                </a:gridCol>
                <a:gridCol w="883043">
                  <a:extLst>
                    <a:ext uri="{9D8B030D-6E8A-4147-A177-3AD203B41FA5}">
                      <a16:colId xmlns:a16="http://schemas.microsoft.com/office/drawing/2014/main" val="3676888478"/>
                    </a:ext>
                  </a:extLst>
                </a:gridCol>
              </a:tblGrid>
              <a:tr h="40253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내용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목표 범위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실제 개발 완료 범위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진척도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17725394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맵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플레이 스타일이 다른 맵 </a:t>
                      </a:r>
                      <a:r>
                        <a:rPr lang="en-US" altLang="ko-KR" dirty="0"/>
                        <a:t>2</a:t>
                      </a:r>
                      <a:r>
                        <a:rPr lang="ko-KR" altLang="en-US" dirty="0"/>
                        <a:t>종 구현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2</a:t>
                      </a:r>
                      <a:r>
                        <a:rPr lang="ko-KR" altLang="en-US" dirty="0"/>
                        <a:t>종 </a:t>
                      </a:r>
                      <a:r>
                        <a:rPr lang="en-US" altLang="ko-KR" dirty="0"/>
                        <a:t>(</a:t>
                      </a:r>
                      <a:r>
                        <a:rPr lang="ko-KR" altLang="en-US" dirty="0"/>
                        <a:t>평지 맵</a:t>
                      </a:r>
                      <a:r>
                        <a:rPr lang="en-US" altLang="ko-KR" dirty="0"/>
                        <a:t>, </a:t>
                      </a:r>
                      <a:r>
                        <a:rPr lang="ko-KR" altLang="en-US" dirty="0"/>
                        <a:t>사원 맵</a:t>
                      </a:r>
                      <a:r>
                        <a:rPr lang="en-US" altLang="ko-KR" dirty="0"/>
                        <a:t>)</a:t>
                      </a:r>
                      <a:r>
                        <a:rPr lang="ko-KR" altLang="en-US" dirty="0"/>
                        <a:t> 구현 완료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100%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47664977"/>
                  </a:ext>
                </a:extLst>
              </a:tr>
              <a:tr h="40253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캐릭터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 역할별 캐릭터 </a:t>
                      </a:r>
                      <a:r>
                        <a:rPr lang="en-US" altLang="ko-KR" dirty="0"/>
                        <a:t>4</a:t>
                      </a:r>
                      <a:r>
                        <a:rPr lang="ko-KR" altLang="en-US" dirty="0"/>
                        <a:t>종 구현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3</a:t>
                      </a:r>
                      <a:r>
                        <a:rPr lang="ko-KR" altLang="en-US" dirty="0"/>
                        <a:t>종 </a:t>
                      </a:r>
                      <a:r>
                        <a:rPr lang="en-US" altLang="ko-KR" dirty="0"/>
                        <a:t>(</a:t>
                      </a:r>
                      <a:r>
                        <a:rPr lang="ko-KR" altLang="en-US" dirty="0"/>
                        <a:t>근거리</a:t>
                      </a:r>
                      <a:r>
                        <a:rPr lang="en-US" altLang="ko-KR" dirty="0"/>
                        <a:t>, </a:t>
                      </a:r>
                      <a:r>
                        <a:rPr lang="ko-KR" altLang="en-US" dirty="0"/>
                        <a:t>원거리</a:t>
                      </a:r>
                      <a:r>
                        <a:rPr lang="en-US" altLang="ko-KR" dirty="0"/>
                        <a:t>, </a:t>
                      </a:r>
                      <a:r>
                        <a:rPr lang="ko-KR" altLang="en-US" dirty="0"/>
                        <a:t>밸런스형</a:t>
                      </a:r>
                      <a:r>
                        <a:rPr lang="en-US" altLang="ko-KR" dirty="0"/>
                        <a:t>) </a:t>
                      </a:r>
                      <a:r>
                        <a:rPr lang="ko-KR" altLang="en-US" dirty="0"/>
                        <a:t>구현 완료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75%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37730677"/>
                  </a:ext>
                </a:extLst>
              </a:tr>
              <a:tr h="914400">
                <a:tc>
                  <a:txBody>
                    <a:bodyPr/>
                    <a:lstStyle/>
                    <a:p>
                      <a:pPr algn="ctr" latinLnBrk="1"/>
                      <a:endParaRPr lang="en-US" altLang="ko-KR" dirty="0"/>
                    </a:p>
                    <a:p>
                      <a:pPr algn="ctr" latinLnBrk="1"/>
                      <a:endParaRPr lang="en-US" altLang="ko-KR" dirty="0"/>
                    </a:p>
                    <a:p>
                      <a:pPr algn="ctr" latinLnBrk="1"/>
                      <a:r>
                        <a:rPr lang="ko-KR" altLang="en-US" dirty="0"/>
                        <a:t>게임 밸런스 조절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en-US" altLang="ko-KR" dirty="0"/>
                    </a:p>
                    <a:p>
                      <a:pPr algn="ctr" latinLnBrk="1"/>
                      <a:endParaRPr lang="en-US" altLang="ko-KR" dirty="0"/>
                    </a:p>
                    <a:p>
                      <a:pPr algn="ctr" latinLnBrk="1"/>
                      <a:r>
                        <a:rPr lang="ko-KR" altLang="en-US" dirty="0"/>
                        <a:t>플레이어의 실력에 따라 승패가 결정되게끔 구현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 err="1"/>
                        <a:t>평지맵</a:t>
                      </a:r>
                      <a:r>
                        <a:rPr lang="ko-KR" altLang="en-US" dirty="0"/>
                        <a:t> </a:t>
                      </a:r>
                      <a:r>
                        <a:rPr lang="en-US" altLang="ko-KR" dirty="0"/>
                        <a:t>: </a:t>
                      </a:r>
                      <a:r>
                        <a:rPr lang="ko-KR" altLang="en-US" dirty="0"/>
                        <a:t>원거리 우세</a:t>
                      </a:r>
                      <a:endParaRPr lang="en-US" altLang="ko-KR" dirty="0"/>
                    </a:p>
                    <a:p>
                      <a:pPr algn="ctr" latinLnBrk="1"/>
                      <a:r>
                        <a:rPr lang="ko-KR" altLang="en-US" dirty="0" err="1"/>
                        <a:t>사원맵</a:t>
                      </a:r>
                      <a:r>
                        <a:rPr lang="ko-KR" altLang="en-US" dirty="0"/>
                        <a:t> </a:t>
                      </a:r>
                      <a:r>
                        <a:rPr lang="en-US" altLang="ko-KR" dirty="0"/>
                        <a:t>: </a:t>
                      </a:r>
                      <a:r>
                        <a:rPr lang="ko-KR" altLang="en-US" dirty="0"/>
                        <a:t>근거리 우세</a:t>
                      </a:r>
                      <a:endParaRPr lang="en-US" altLang="ko-KR" dirty="0"/>
                    </a:p>
                    <a:p>
                      <a:pPr algn="ctr" latinLnBrk="1"/>
                      <a:r>
                        <a:rPr lang="ko-KR" altLang="en-US" dirty="0"/>
                        <a:t>근거리 캐릭터 </a:t>
                      </a:r>
                      <a:r>
                        <a:rPr lang="en-US" altLang="ko-KR" dirty="0"/>
                        <a:t>:</a:t>
                      </a:r>
                      <a:r>
                        <a:rPr lang="ko-KR" altLang="en-US" dirty="0"/>
                        <a:t> 이동기</a:t>
                      </a:r>
                      <a:r>
                        <a:rPr lang="en-US" altLang="ko-KR" dirty="0"/>
                        <a:t>(</a:t>
                      </a:r>
                      <a:r>
                        <a:rPr lang="ko-KR" altLang="en-US" dirty="0"/>
                        <a:t>스킬</a:t>
                      </a:r>
                      <a:r>
                        <a:rPr lang="en-US" altLang="ko-KR" dirty="0"/>
                        <a:t>)</a:t>
                      </a:r>
                      <a:r>
                        <a:rPr lang="ko-KR" altLang="en-US" dirty="0"/>
                        <a:t>로 접근 가능</a:t>
                      </a:r>
                      <a:endParaRPr lang="en-US" altLang="ko-KR" dirty="0"/>
                    </a:p>
                    <a:p>
                      <a:pPr algn="ctr" latinLnBrk="1"/>
                      <a:r>
                        <a:rPr lang="ko-KR" altLang="en-US" dirty="0"/>
                        <a:t>원거리 캐릭터 </a:t>
                      </a:r>
                      <a:r>
                        <a:rPr lang="en-US" altLang="ko-KR" dirty="0"/>
                        <a:t>:</a:t>
                      </a:r>
                      <a:r>
                        <a:rPr lang="ko-KR" altLang="en-US" dirty="0"/>
                        <a:t> 타격 시 </a:t>
                      </a:r>
                      <a:r>
                        <a:rPr lang="ko-KR" altLang="en-US" dirty="0" err="1"/>
                        <a:t>넉백</a:t>
                      </a:r>
                      <a:r>
                        <a:rPr lang="ko-KR" altLang="en-US" dirty="0"/>
                        <a:t> 거리 ↑ </a:t>
                      </a:r>
                      <a:r>
                        <a:rPr lang="en-US" altLang="ko-KR" dirty="0"/>
                        <a:t>+ </a:t>
                      </a:r>
                      <a:r>
                        <a:rPr lang="ko-KR" altLang="en-US" dirty="0" err="1"/>
                        <a:t>샷건</a:t>
                      </a:r>
                      <a:r>
                        <a:rPr lang="ko-KR" altLang="en-US" dirty="0"/>
                        <a:t> </a:t>
                      </a:r>
                      <a:r>
                        <a:rPr lang="en-US" altLang="ko-KR" dirty="0"/>
                        <a:t>(</a:t>
                      </a:r>
                      <a:r>
                        <a:rPr lang="ko-KR" altLang="en-US" dirty="0"/>
                        <a:t>가까울수록 데미지 </a:t>
                      </a:r>
                      <a:r>
                        <a:rPr lang="en-US" altLang="ko-KR" dirty="0"/>
                        <a:t>up) </a:t>
                      </a:r>
                      <a:r>
                        <a:rPr lang="ko-KR" altLang="en-US" dirty="0" err="1"/>
                        <a:t>저격총</a:t>
                      </a:r>
                      <a:r>
                        <a:rPr lang="ko-KR" altLang="en-US" dirty="0"/>
                        <a:t> </a:t>
                      </a:r>
                      <a:r>
                        <a:rPr lang="en-US" altLang="ko-KR" dirty="0"/>
                        <a:t>(</a:t>
                      </a:r>
                      <a:r>
                        <a:rPr lang="ko-KR" altLang="en-US" dirty="0"/>
                        <a:t>멀수록 데미지 </a:t>
                      </a:r>
                      <a:r>
                        <a:rPr lang="en-US" altLang="ko-KR" dirty="0"/>
                        <a:t>up)</a:t>
                      </a:r>
                    </a:p>
                    <a:p>
                      <a:pPr algn="ctr" latinLnBrk="1"/>
                      <a:r>
                        <a:rPr lang="ko-KR" altLang="en-US" dirty="0"/>
                        <a:t>각 캐릭터 </a:t>
                      </a:r>
                      <a:r>
                        <a:rPr lang="ko-KR" altLang="en-US" dirty="0" err="1"/>
                        <a:t>궁극기</a:t>
                      </a:r>
                      <a:r>
                        <a:rPr lang="ko-KR" altLang="en-US" dirty="0"/>
                        <a:t> </a:t>
                      </a:r>
                      <a:r>
                        <a:rPr lang="ko-KR" altLang="en-US" dirty="0" err="1"/>
                        <a:t>밸류를</a:t>
                      </a:r>
                      <a:r>
                        <a:rPr lang="ko-KR" altLang="en-US" dirty="0"/>
                        <a:t> 고려한 </a:t>
                      </a:r>
                      <a:r>
                        <a:rPr lang="en-US" altLang="ko-KR" dirty="0" err="1"/>
                        <a:t>mp</a:t>
                      </a:r>
                      <a:r>
                        <a:rPr lang="en-US" altLang="ko-KR" dirty="0"/>
                        <a:t> </a:t>
                      </a:r>
                      <a:r>
                        <a:rPr lang="ko-KR" altLang="en-US" dirty="0"/>
                        <a:t>소모량</a:t>
                      </a:r>
                      <a:endParaRPr lang="en-US" altLang="ko-K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100%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38323237"/>
                  </a:ext>
                </a:extLst>
              </a:tr>
              <a:tr h="402532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UI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게임 플레이가 매끄럽게 이어지도록 </a:t>
                      </a:r>
                      <a:r>
                        <a:rPr lang="en-US" altLang="ko-KR" dirty="0"/>
                        <a:t>UI </a:t>
                      </a:r>
                      <a:r>
                        <a:rPr lang="ko-KR" altLang="en-US" dirty="0"/>
                        <a:t>구현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구현 완료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100%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03662080"/>
                  </a:ext>
                </a:extLst>
              </a:tr>
              <a:tr h="40253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재미요소 추가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최대 </a:t>
                      </a:r>
                      <a:r>
                        <a:rPr lang="en-US" altLang="ko-KR" dirty="0"/>
                        <a:t>hp</a:t>
                      </a:r>
                      <a:r>
                        <a:rPr lang="ko-KR" altLang="en-US" dirty="0"/>
                        <a:t>와 </a:t>
                      </a:r>
                      <a:r>
                        <a:rPr lang="en-US" altLang="ko-KR" dirty="0" err="1"/>
                        <a:t>mp</a:t>
                      </a:r>
                      <a:r>
                        <a:rPr lang="ko-KR" altLang="en-US" dirty="0" err="1"/>
                        <a:t>회복량</a:t>
                      </a:r>
                      <a:r>
                        <a:rPr lang="ko-KR" altLang="en-US" dirty="0"/>
                        <a:t> 설정</a:t>
                      </a:r>
                      <a:endParaRPr lang="en-US" altLang="ko-KR" dirty="0"/>
                    </a:p>
                    <a:p>
                      <a:pPr algn="ctr" latinLnBrk="1"/>
                      <a:r>
                        <a:rPr lang="ko-KR" altLang="en-US" dirty="0"/>
                        <a:t>맵 랜덤 구현</a:t>
                      </a:r>
                      <a:endParaRPr lang="en-US" altLang="ko-K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구현 완료</a:t>
                      </a:r>
                      <a:endParaRPr lang="en-US" altLang="ko-KR" dirty="0"/>
                    </a:p>
                    <a:p>
                      <a:pPr algn="ctr" latinLnBrk="1"/>
                      <a:r>
                        <a:rPr lang="en-US" altLang="ko-KR" dirty="0"/>
                        <a:t>(</a:t>
                      </a:r>
                      <a:r>
                        <a:rPr lang="ko-KR" altLang="en-US" dirty="0"/>
                        <a:t>맵 특성상 유리한 캐릭터가 있으므로 랜덤 구현</a:t>
                      </a:r>
                      <a:r>
                        <a:rPr lang="en-US" altLang="ko-KR" dirty="0"/>
                        <a:t>)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100%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14974075"/>
                  </a:ext>
                </a:extLst>
              </a:tr>
              <a:tr h="40253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사운드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배경음악</a:t>
                      </a:r>
                      <a:endParaRPr lang="en-US" altLang="ko-KR" dirty="0"/>
                    </a:p>
                    <a:p>
                      <a:pPr algn="ctr" latinLnBrk="1"/>
                      <a:r>
                        <a:rPr lang="ko-KR" altLang="en-US" dirty="0"/>
                        <a:t>캐릭터 사운드 구현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구현 완료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100%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5989881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3369370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2">
                <a:shade val="18000"/>
                <a:satMod val="160000"/>
                <a:lumMod val="28000"/>
              </a:schemeClr>
              <a:schemeClr val="bg2">
                <a:tint val="95000"/>
                <a:satMod val="160000"/>
                <a:lumMod val="116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 descr="텍스트, 스크린샷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68A4B0D0-3F9E-CA98-356A-4473577CB6B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46722" y="0"/>
            <a:ext cx="9045278" cy="5969882"/>
          </a:xfrm>
          <a:prstGeom prst="rect">
            <a:avLst/>
          </a:prstGeom>
          <a:ln w="127000" cap="flat">
            <a:solidFill>
              <a:srgbClr val="FFFFFF"/>
            </a:solidFill>
            <a:miter lim="800000"/>
          </a:ln>
          <a:effectLst>
            <a:outerShdw blurRad="54991" dist="17780" dir="5400000" algn="ctr" rotWithShape="0">
              <a:schemeClr val="bg1">
                <a:alpha val="40000"/>
              </a:scheme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</a:sp3d>
        </p:spPr>
      </p:pic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78330920-9EF2-D579-55F2-976B8396190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78707958"/>
              </p:ext>
            </p:extLst>
          </p:nvPr>
        </p:nvGraphicFramePr>
        <p:xfrm>
          <a:off x="0" y="2111098"/>
          <a:ext cx="8966030" cy="4746900"/>
        </p:xfrm>
        <a:graphic>
          <a:graphicData uri="http://schemas.openxmlformats.org/drawingml/2006/table">
            <a:tbl>
              <a:tblPr firstRow="1" bandRow="1">
                <a:tableStyleId>{793D81CF-94F2-401A-BA57-92F5A7B2D0C5}</a:tableStyleId>
              </a:tblPr>
              <a:tblGrid>
                <a:gridCol w="4483015">
                  <a:extLst>
                    <a:ext uri="{9D8B030D-6E8A-4147-A177-3AD203B41FA5}">
                      <a16:colId xmlns:a16="http://schemas.microsoft.com/office/drawing/2014/main" val="493029370"/>
                    </a:ext>
                  </a:extLst>
                </a:gridCol>
                <a:gridCol w="4483015">
                  <a:extLst>
                    <a:ext uri="{9D8B030D-6E8A-4147-A177-3AD203B41FA5}">
                      <a16:colId xmlns:a16="http://schemas.microsoft.com/office/drawing/2014/main" val="1052481390"/>
                    </a:ext>
                  </a:extLst>
                </a:gridCol>
              </a:tblGrid>
              <a:tr h="47469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주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 err="1"/>
                        <a:t>커밋</a:t>
                      </a:r>
                      <a:r>
                        <a:rPr lang="ko-KR" altLang="en-US" dirty="0"/>
                        <a:t> 횟수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33359046"/>
                  </a:ext>
                </a:extLst>
              </a:tr>
              <a:tr h="47469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Week of Sep 23 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2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95126081"/>
                  </a:ext>
                </a:extLst>
              </a:tr>
              <a:tr h="47469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dirty="0"/>
                        <a:t>Week of Oct 12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8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26307593"/>
                  </a:ext>
                </a:extLst>
              </a:tr>
              <a:tr h="47469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dirty="0"/>
                        <a:t>Week of Oct 26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1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5984156"/>
                  </a:ext>
                </a:extLst>
              </a:tr>
              <a:tr h="47469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dirty="0"/>
                        <a:t>Week of Nov 2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3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79821803"/>
                  </a:ext>
                </a:extLst>
              </a:tr>
              <a:tr h="47469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dirty="0"/>
                        <a:t>Week of Nov 9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33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57170275"/>
                  </a:ext>
                </a:extLst>
              </a:tr>
              <a:tr h="47469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Week of Nov 16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79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45621933"/>
                  </a:ext>
                </a:extLst>
              </a:tr>
              <a:tr h="47469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Week of Nov 23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15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92871082"/>
                  </a:ext>
                </a:extLst>
              </a:tr>
              <a:tr h="47469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Week of Nov 30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52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73960365"/>
                  </a:ext>
                </a:extLst>
              </a:tr>
              <a:tr h="47469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Week of Dec 7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42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7898858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27840282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Damask">
  <a:themeElements>
    <a:clrScheme name="Damask">
      <a:dk1>
        <a:sysClr val="windowText" lastClr="000000"/>
      </a:dk1>
      <a:lt1>
        <a:sysClr val="window" lastClr="FFFFFF"/>
      </a:lt1>
      <a:dk2>
        <a:srgbClr val="2A5B7F"/>
      </a:dk2>
      <a:lt2>
        <a:srgbClr val="ABDAFC"/>
      </a:lt2>
      <a:accent1>
        <a:srgbClr val="9EC544"/>
      </a:accent1>
      <a:accent2>
        <a:srgbClr val="50BEA3"/>
      </a:accent2>
      <a:accent3>
        <a:srgbClr val="4A9CCC"/>
      </a:accent3>
      <a:accent4>
        <a:srgbClr val="9A66CA"/>
      </a:accent4>
      <a:accent5>
        <a:srgbClr val="C54F71"/>
      </a:accent5>
      <a:accent6>
        <a:srgbClr val="DE9C3C"/>
      </a:accent6>
      <a:hlink>
        <a:srgbClr val="6BA9DA"/>
      </a:hlink>
      <a:folHlink>
        <a:srgbClr val="A0BCD3"/>
      </a:folHlink>
    </a:clrScheme>
    <a:fontScheme name="Damask">
      <a:majorFont>
        <a:latin typeface="Bookman Old Style" panose="02050604050505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ckwell" panose="020606030202050204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Damask">
      <a:fillStyleLst>
        <a:solidFill>
          <a:schemeClr val="phClr"/>
        </a:solidFill>
        <a:gradFill rotWithShape="1">
          <a:gsLst>
            <a:gs pos="0">
              <a:schemeClr val="phClr">
                <a:tint val="48000"/>
                <a:satMod val="105000"/>
                <a:lumMod val="110000"/>
              </a:schemeClr>
            </a:gs>
            <a:gs pos="100000">
              <a:schemeClr val="phClr">
                <a:tint val="78000"/>
                <a:satMod val="109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satMod val="100000"/>
                <a:lumMod val="104000"/>
              </a:schemeClr>
            </a:gs>
            <a:gs pos="69000">
              <a:schemeClr val="phClr">
                <a:shade val="86000"/>
                <a:satMod val="130000"/>
                <a:lumMod val="102000"/>
              </a:schemeClr>
            </a:gs>
            <a:gs pos="100000">
              <a:schemeClr val="phClr">
                <a:shade val="72000"/>
                <a:satMod val="130000"/>
                <a:lumMod val="100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38100" dir="5400000" sy="96000" rotWithShape="0">
              <a:srgbClr val="000000">
                <a:alpha val="54000"/>
              </a:srgbClr>
            </a:outerShdw>
          </a:effectLst>
        </a:effectStyle>
        <a:effectStyle>
          <a:effectLst>
            <a:outerShdw blurRad="76200" dist="38100" dir="5400000" algn="ctr" rotWithShape="0">
              <a:srgbClr val="000000">
                <a:alpha val="76000"/>
              </a:srgbClr>
            </a:outerShdw>
          </a:effectLst>
          <a:scene3d>
            <a:camera prst="orthographicFront">
              <a:rot lat="0" lon="0" rev="0"/>
            </a:camera>
            <a:lightRig rig="balanced" dir="t"/>
          </a:scene3d>
          <a:sp3d prstMaterial="matte">
            <a:bevelT w="25400" h="25400" prst="relaxedInset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blipFill rotWithShape="1">
          <a:blip xmlns:r="http://schemas.openxmlformats.org/officeDocument/2006/relationships" r:embed="rId1">
            <a:duotone>
              <a:schemeClr val="phClr">
                <a:shade val="18000"/>
                <a:satMod val="160000"/>
                <a:lumMod val="28000"/>
              </a:schemeClr>
              <a:schemeClr val="phClr">
                <a:tint val="95000"/>
                <a:satMod val="160000"/>
                <a:lumMod val="116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amask" id="{F9A299A0-33D0-4E0F-9F3F-7163E3744208}" vid="{746EEEEA-FB6A-406B-B510-531588D54811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160</TotalTime>
  <Words>205</Words>
  <Application>Microsoft Office PowerPoint</Application>
  <PresentationFormat>와이드스크린</PresentationFormat>
  <Paragraphs>63</Paragraphs>
  <Slides>3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</vt:i4>
      </vt:variant>
    </vt:vector>
  </HeadingPairs>
  <TitlesOfParts>
    <vt:vector size="8" baseType="lpstr">
      <vt:lpstr>맑은 고딕</vt:lpstr>
      <vt:lpstr>Arial</vt:lpstr>
      <vt:lpstr>Bookman Old Style</vt:lpstr>
      <vt:lpstr>Rockwell</vt:lpstr>
      <vt:lpstr>Damask</vt:lpstr>
      <vt:lpstr>바운스 어택</vt:lpstr>
      <vt:lpstr>개발 진척도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백성윤(2022180016)</dc:creator>
  <cp:lastModifiedBy>백성윤(2022180016)</cp:lastModifiedBy>
  <cp:revision>8</cp:revision>
  <dcterms:created xsi:type="dcterms:W3CDTF">2025-10-01T05:08:59Z</dcterms:created>
  <dcterms:modified xsi:type="dcterms:W3CDTF">2025-12-09T15:32:47Z</dcterms:modified>
</cp:coreProperties>
</file>